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embeddedFontLst>
    <p:embeddedFont>
      <p:font typeface="DM Sans Medium"/>
      <p:regular r:id="rId9"/>
      <p:bold r:id="rId10"/>
      <p:italic r:id="rId11"/>
      <p:boldItalic r:id="rId12"/>
    </p:embeddedFont>
    <p:embeddedFont>
      <p:font typeface="DM Sans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7826DE1-BCC8-469B-A033-26287CAF4CEE}">
  <a:tblStyle styleId="{A7826DE1-BCC8-469B-A033-26287CAF4CEE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DFD"/>
          </a:solidFill>
        </a:fill>
      </a:tcStyle>
    </a:wholeTbl>
    <a:band1H>
      <a:tcTxStyle b="off" i="off"/>
      <a:tcStyle>
        <a:fill>
          <a:solidFill>
            <a:srgbClr val="CDD8FB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8FB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DMSansMedium-italic.fntdata"/><Relationship Id="rId10" Type="http://schemas.openxmlformats.org/officeDocument/2006/relationships/font" Target="fonts/DMSansMedium-bold.fntdata"/><Relationship Id="rId13" Type="http://schemas.openxmlformats.org/officeDocument/2006/relationships/font" Target="fonts/DMSans-regular.fntdata"/><Relationship Id="rId12" Type="http://schemas.openxmlformats.org/officeDocument/2006/relationships/font" Target="fonts/DMSans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font" Target="fonts/DMSansMedium-regular.fntdata"/><Relationship Id="rId15" Type="http://schemas.openxmlformats.org/officeDocument/2006/relationships/font" Target="fonts/DMSans-italic.fntdata"/><Relationship Id="rId14" Type="http://schemas.openxmlformats.org/officeDocument/2006/relationships/font" Target="fonts/DMSans-bold.fntdata"/><Relationship Id="rId16" Type="http://schemas.openxmlformats.org/officeDocument/2006/relationships/font" Target="fonts/DM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2f9e9b17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g3f2f9e9b17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2f9e9b17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f2f9e9b172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9144000" cy="573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259075" y="3543525"/>
            <a:ext cx="6469800" cy="1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575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</a:pPr>
            <a:r>
              <a:rPr b="0" i="0" lang="en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Brand red is #FF3300. Don't use #F20000, #FF0000, or other near reds.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85750" lvl="0" marL="4572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</a:pPr>
            <a:r>
              <a:rPr b="0" i="0" lang="en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Greys are for graphics, lines, and fills. Cool ramp </a:t>
            </a:r>
            <a:r>
              <a:rPr lang="en"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is also available</a:t>
            </a:r>
            <a:r>
              <a:rPr b="0" i="0" lang="en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85750" lvl="0" marL="4572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</a:pPr>
            <a:r>
              <a:rPr b="0" i="0" lang="en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For charts, give each series its own color family.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85750" lvl="0" marL="4572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"/>
              <a:buChar char="•"/>
            </a:pPr>
            <a:r>
              <a:rPr b="0" i="0" lang="en" sz="9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Use teal for a positive cue, and dark red or cyan for a highlight.</a:t>
            </a:r>
            <a:endParaRPr b="0" i="0" sz="9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85750" lvl="0" marL="457200" rtl="0" algn="l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900"/>
              <a:buFont typeface="DM Sans"/>
              <a:buChar char="•"/>
            </a:pPr>
            <a:r>
              <a:rPr lang="en"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Pasting this table should give you a clean custom palette in slides. Ignore the placeholder peach colors. ———&gt;</a:t>
            </a:r>
            <a:endParaRPr sz="9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11480" y="338328"/>
            <a:ext cx="822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2600" u="none" cap="none" strike="noStrike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Color</a:t>
            </a:r>
            <a:endParaRPr b="0" i="0" sz="2600" u="none" cap="none" strike="noStrike">
              <a:solidFill>
                <a:srgbClr val="00000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11480" y="851795"/>
            <a:ext cx="8229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Use this palette. Copy the table to your slide to sample if needed.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3491" y="3860796"/>
            <a:ext cx="1034250" cy="824795"/>
          </a:xfrm>
          <a:prstGeom prst="rect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59" name="Google Shape;59;p13"/>
          <p:cNvGraphicFramePr/>
          <p:nvPr/>
        </p:nvGraphicFramePr>
        <p:xfrm>
          <a:off x="411485" y="12305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{A7826DE1-BCC8-469B-A033-26287CAF4CEE}</a:tableStyleId>
              </a:tblPr>
              <a:tblGrid>
                <a:gridCol w="676400"/>
                <a:gridCol w="676400"/>
                <a:gridCol w="676400"/>
                <a:gridCol w="676400"/>
                <a:gridCol w="676400"/>
                <a:gridCol w="676400"/>
                <a:gridCol w="676400"/>
                <a:gridCol w="382900"/>
                <a:gridCol w="382900"/>
                <a:gridCol w="382900"/>
              </a:tblGrid>
              <a:tr h="1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FF3300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00E7E7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0033FF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7300FF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3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FF00DB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F9F9F9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F5F6FA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D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DA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DAB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FFD6CC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6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CCFAFA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CCD6FF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D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E3CCFF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FFCCF7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EEEEEE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E6E8F0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D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DA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EA9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FFAD99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AD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99F5F5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99ADFF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AD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C799FF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9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FF99F0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D4D4D4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C6CAD8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6CA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EA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E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EAC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FF704C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04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4CEEEE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C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4C70FF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C7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9D4CFF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D4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FF4CE5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4C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BBBBBB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A8ADC2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ADC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EA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E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FA9"/>
                    </a:solidFill>
                  </a:tcPr>
                </a:tc>
              </a:tr>
              <a:tr h="122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CC2800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28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00B8B8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8B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0028CC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8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5C00CC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00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CC00AF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757575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575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696D7E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96D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FA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F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FAD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991E00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1E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008A8A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001E99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E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450099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00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990083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008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333333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2E313D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31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FA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0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0AB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661400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14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005C5C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C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001466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4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2E0066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00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660057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600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111111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" sz="8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15161B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161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0A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/>
        </p:nvSpPr>
        <p:spPr>
          <a:xfrm>
            <a:off x="411480" y="338328"/>
            <a:ext cx="822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00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Typography</a:t>
            </a:r>
            <a:endParaRPr sz="2600"/>
          </a:p>
        </p:txBody>
      </p:sp>
      <p:sp>
        <p:nvSpPr>
          <p:cNvPr id="65" name="Google Shape;65;p14"/>
          <p:cNvSpPr txBox="1"/>
          <p:nvPr/>
        </p:nvSpPr>
        <p:spPr>
          <a:xfrm>
            <a:off x="411480" y="851795"/>
            <a:ext cx="8229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One typeface — </a:t>
            </a:r>
            <a:r>
              <a:rPr b="0" lang="en" sz="1400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DM Sans</a:t>
            </a:r>
            <a:r>
              <a:rPr b="0" lang="en" sz="1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  Two weights — </a:t>
            </a:r>
            <a:r>
              <a:rPr b="0" lang="en" sz="1400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Regular</a:t>
            </a:r>
            <a:r>
              <a:rPr b="0" lang="en" sz="1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b="0" lang="en" sz="1400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Medium</a:t>
            </a:r>
            <a:r>
              <a:rPr b="0" lang="en" sz="1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411475" y="1431755"/>
            <a:ext cx="3886200" cy="13674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685800" y="1596350"/>
            <a:ext cx="3383400" cy="9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Aa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DM Sans Regular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Body copy, labels, captions</a:t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4526275" y="1431755"/>
            <a:ext cx="4206300" cy="13674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4800600" y="1596350"/>
            <a:ext cx="3657600" cy="9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800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Aa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DM Sans Medium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Headings </a:t>
            </a: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and</a:t>
            </a:r>
            <a:r>
              <a:rPr b="0" lang="en" sz="1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emphasis</a:t>
            </a: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411480" y="3227832"/>
            <a:ext cx="3886200" cy="14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B8B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Do</a:t>
            </a:r>
            <a:endParaRPr/>
          </a:p>
          <a:p>
            <a:pPr indent="-298450" lvl="0" marL="4572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DM Sans"/>
              <a:buChar char="•"/>
            </a:pPr>
            <a:r>
              <a:rPr lang="en" sz="1100">
                <a:latin typeface="DM Sans"/>
                <a:ea typeface="DM Sans"/>
                <a:cs typeface="DM Sans"/>
                <a:sym typeface="DM Sans"/>
              </a:rPr>
              <a:t>Do s</a:t>
            </a:r>
            <a:r>
              <a:rPr b="0" lang="en" sz="1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et everything in DM Sans</a:t>
            </a:r>
            <a:endParaRPr/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DM Sans"/>
              <a:buChar char="•"/>
            </a:pPr>
            <a:r>
              <a:rPr lang="en" sz="1100">
                <a:latin typeface="DM Sans"/>
                <a:ea typeface="DM Sans"/>
                <a:cs typeface="DM Sans"/>
                <a:sym typeface="DM Sans"/>
              </a:rPr>
              <a:t>Do u</a:t>
            </a:r>
            <a:r>
              <a:rPr b="0" lang="en" sz="1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 black (#000000) for default text</a:t>
            </a:r>
            <a:endParaRPr/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DM Sans"/>
              <a:buChar char="•"/>
            </a:pPr>
            <a:r>
              <a:rPr lang="en" sz="1100">
                <a:latin typeface="DM Sans"/>
                <a:ea typeface="DM Sans"/>
                <a:cs typeface="DM Sans"/>
                <a:sym typeface="DM Sans"/>
              </a:rPr>
              <a:t>Do u</a:t>
            </a:r>
            <a:r>
              <a:rPr b="0" lang="en" sz="1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 Medium to emphasize</a:t>
            </a:r>
            <a:endParaRPr/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DM Sans"/>
              <a:buChar char="•"/>
            </a:pPr>
            <a:r>
              <a:rPr lang="en" sz="1100">
                <a:latin typeface="DM Sans"/>
                <a:ea typeface="DM Sans"/>
                <a:cs typeface="DM Sans"/>
                <a:sym typeface="DM Sans"/>
              </a:rPr>
              <a:t>Do set text in R</a:t>
            </a:r>
            <a:r>
              <a:rPr b="0" lang="en" sz="1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egular + Medium only</a:t>
            </a:r>
            <a:endParaRPr b="0" sz="11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DM Sans"/>
              <a:buChar char="•"/>
            </a:pPr>
            <a:r>
              <a:rPr lang="en" sz="1100">
                <a:latin typeface="DM Sans"/>
                <a:ea typeface="DM Sans"/>
                <a:cs typeface="DM Sans"/>
                <a:sym typeface="DM Sans"/>
              </a:rPr>
              <a:t>Do use sentence and title case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4526280" y="3227832"/>
            <a:ext cx="4206300" cy="11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C280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Don’t</a:t>
            </a:r>
            <a:endParaRPr>
              <a:solidFill>
                <a:srgbClr val="CC2800"/>
              </a:solidFill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DM Sans"/>
              <a:buChar char="•"/>
            </a:pPr>
            <a:r>
              <a:rPr lang="en" sz="1100">
                <a:latin typeface="DM Sans"/>
                <a:ea typeface="DM Sans"/>
                <a:cs typeface="DM Sans"/>
                <a:sym typeface="DM Sans"/>
              </a:rPr>
              <a:t>Don’t u</a:t>
            </a:r>
            <a:r>
              <a:rPr b="0" lang="en" sz="1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 Arial, Calibri or other fonts</a:t>
            </a:r>
            <a:endParaRPr/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DM Sans"/>
              <a:buChar char="•"/>
            </a:pPr>
            <a:r>
              <a:rPr lang="en" sz="1100">
                <a:latin typeface="DM Sans"/>
                <a:ea typeface="DM Sans"/>
                <a:cs typeface="DM Sans"/>
                <a:sym typeface="DM Sans"/>
              </a:rPr>
              <a:t>Don’t a</a:t>
            </a:r>
            <a:r>
              <a:rPr b="0" lang="en" sz="1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pply bold (synthetic) to DM Sans</a:t>
            </a:r>
            <a:endParaRPr/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DM Sans"/>
              <a:buChar char="•"/>
            </a:pPr>
            <a:r>
              <a:rPr lang="en" sz="1100">
                <a:latin typeface="DM Sans"/>
                <a:ea typeface="DM Sans"/>
                <a:cs typeface="DM Sans"/>
                <a:sym typeface="DM Sans"/>
              </a:rPr>
              <a:t>Don’t u</a:t>
            </a:r>
            <a:r>
              <a:rPr b="0" lang="en" sz="11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 SemiBold, Bold or Light weights</a:t>
            </a:r>
            <a:endParaRPr b="0" sz="11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DM Sans"/>
              <a:buChar char="•"/>
            </a:pPr>
            <a:r>
              <a:rPr lang="en" sz="1100">
                <a:latin typeface="DM Sans"/>
                <a:ea typeface="DM Sans"/>
                <a:cs typeface="DM Sans"/>
                <a:sym typeface="DM Sans"/>
              </a:rPr>
              <a:t>Don’t use all caps when possible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0" y="0"/>
            <a:ext cx="9144000" cy="573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